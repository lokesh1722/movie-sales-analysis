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6" r:id="rId5"/>
    <p:sldId id="287" r:id="rId6"/>
    <p:sldId id="263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9" r:id="rId16"/>
    <p:sldId id="274" r:id="rId17"/>
    <p:sldId id="275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90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49300" y="9429743"/>
            <a:ext cx="4400550" cy="6667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410" y="176148"/>
            <a:ext cx="12096369" cy="1610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7829" y="2330513"/>
            <a:ext cx="16036925" cy="689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" y="38100"/>
            <a:ext cx="182499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94200" y="5898768"/>
            <a:ext cx="9512300" cy="223710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lang="en-US" sz="6200" spc="85" dirty="0">
                <a:solidFill>
                  <a:srgbClr val="000000"/>
                </a:solidFill>
                <a:latin typeface="Tahoma"/>
                <a:cs typeface="Tahoma"/>
              </a:rPr>
              <a:t>  Movie Sales</a:t>
            </a:r>
            <a:r>
              <a:rPr sz="6200" spc="-1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6200" spc="150" dirty="0">
                <a:solidFill>
                  <a:srgbClr val="000000"/>
                </a:solidFill>
                <a:latin typeface="Tahoma"/>
                <a:cs typeface="Tahoma"/>
              </a:rPr>
              <a:t>Analysis</a:t>
            </a:r>
            <a:endParaRPr sz="6200" dirty="0">
              <a:latin typeface="Tahoma"/>
              <a:cs typeface="Tahoma"/>
            </a:endParaRPr>
          </a:p>
          <a:p>
            <a:pPr marL="214629" algn="ctr">
              <a:lnSpc>
                <a:spcPct val="100000"/>
              </a:lnSpc>
              <a:spcBef>
                <a:spcPts val="1265"/>
              </a:spcBef>
            </a:pPr>
            <a:r>
              <a:rPr sz="6200" spc="245" dirty="0">
                <a:solidFill>
                  <a:srgbClr val="FFBC58"/>
                </a:solidFill>
                <a:latin typeface="Tahoma"/>
                <a:cs typeface="Tahoma"/>
              </a:rPr>
              <a:t>Power</a:t>
            </a:r>
            <a:r>
              <a:rPr sz="6200" spc="-110" dirty="0">
                <a:solidFill>
                  <a:srgbClr val="FFBC58"/>
                </a:solidFill>
                <a:latin typeface="Tahoma"/>
                <a:cs typeface="Tahoma"/>
              </a:rPr>
              <a:t> </a:t>
            </a:r>
            <a:r>
              <a:rPr sz="6200" spc="-655" dirty="0">
                <a:solidFill>
                  <a:srgbClr val="FFBC58"/>
                </a:solidFill>
                <a:latin typeface="Tahoma"/>
                <a:cs typeface="Tahoma"/>
              </a:rPr>
              <a:t>BI</a:t>
            </a:r>
            <a:endParaRPr sz="6200" dirty="0"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34800" y="8123789"/>
            <a:ext cx="609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Presented by : Lokesh </a:t>
            </a:r>
            <a:r>
              <a:rPr lang="en-US" sz="2800" b="1" dirty="0" err="1"/>
              <a:t>Gilakathula</a:t>
            </a:r>
            <a:endParaRPr lang="en-US" sz="2800" b="1" dirty="0"/>
          </a:p>
          <a:p>
            <a:r>
              <a:rPr lang="en-US" sz="2800" b="1" dirty="0"/>
              <a:t>Batch 403</a:t>
            </a:r>
          </a:p>
          <a:p>
            <a:r>
              <a:rPr lang="en-US" sz="2800" b="1" dirty="0" err="1"/>
              <a:t>Innomatics</a:t>
            </a:r>
            <a:r>
              <a:rPr lang="en-US" sz="2800" b="1" dirty="0"/>
              <a:t> Research Labs </a:t>
            </a:r>
          </a:p>
          <a:p>
            <a:r>
              <a:rPr lang="en-US" sz="2800" b="1" dirty="0" err="1"/>
              <a:t>Dilsukhnagar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502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0820" y="2207260"/>
            <a:ext cx="8099425" cy="5977277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dirty="0">
                <a:latin typeface="Times New Roman"/>
                <a:cs typeface="Times New Roman"/>
              </a:rPr>
              <a:t>Introduction</a:t>
            </a:r>
            <a:endParaRPr sz="4100" dirty="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dirty="0">
                <a:latin typeface="Times New Roman"/>
                <a:cs typeface="Times New Roman"/>
              </a:rPr>
              <a:t>Problem Statement</a:t>
            </a:r>
            <a:endParaRPr sz="4100" dirty="0"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dirty="0">
                <a:latin typeface="Times New Roman"/>
                <a:cs typeface="Times New Roman"/>
              </a:rPr>
              <a:t>Objective</a:t>
            </a:r>
          </a:p>
          <a:p>
            <a:pPr marL="457200" indent="-4445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dirty="0">
                <a:solidFill>
                  <a:schemeClr val="tx1"/>
                </a:solidFill>
                <a:latin typeface="Times New Roman"/>
                <a:cs typeface="Times New Roman"/>
              </a:rPr>
              <a:t>Dataset  Description  </a:t>
            </a:r>
            <a:endParaRPr sz="4100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57200" indent="-4445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spc="-10" dirty="0">
                <a:latin typeface="Times New Roman"/>
                <a:cs typeface="Times New Roman"/>
              </a:rPr>
              <a:t>Data Cleaning</a:t>
            </a:r>
          </a:p>
          <a:p>
            <a:pPr marL="457200" indent="-4445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spc="-10" dirty="0">
                <a:latin typeface="Times New Roman"/>
                <a:cs typeface="Times New Roman"/>
              </a:rPr>
              <a:t>Visualization</a:t>
            </a:r>
          </a:p>
          <a:p>
            <a:pPr marL="457200" indent="-4445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lang="en-US" sz="4100" b="1" spc="-10" dirty="0">
                <a:latin typeface="Times New Roman"/>
                <a:cs typeface="Times New Roman"/>
              </a:rPr>
              <a:t>Dashboard Overview</a:t>
            </a:r>
          </a:p>
          <a:p>
            <a:pPr marL="457200" indent="-44450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457200" algn="l"/>
              </a:tabLst>
            </a:pPr>
            <a:r>
              <a:rPr sz="4100" b="1" spc="-10" dirty="0">
                <a:latin typeface="Times New Roman"/>
                <a:cs typeface="Times New Roman"/>
              </a:rPr>
              <a:t>Conclusion</a:t>
            </a:r>
            <a:endParaRPr sz="4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1500" y="642358"/>
            <a:ext cx="1546860" cy="1543050"/>
          </a:xfrm>
          <a:custGeom>
            <a:avLst/>
            <a:gdLst/>
            <a:ahLst/>
            <a:cxnLst/>
            <a:rect l="l" t="t" r="r" b="b"/>
            <a:pathLst>
              <a:path w="1546860" h="1543050">
                <a:moveTo>
                  <a:pt x="972261" y="511043"/>
                </a:moveTo>
                <a:lnTo>
                  <a:pt x="936795" y="518216"/>
                </a:lnTo>
                <a:lnTo>
                  <a:pt x="907796" y="537772"/>
                </a:lnTo>
                <a:lnTo>
                  <a:pt x="888224" y="566764"/>
                </a:lnTo>
                <a:lnTo>
                  <a:pt x="881043" y="602246"/>
                </a:lnTo>
                <a:lnTo>
                  <a:pt x="881043" y="1450678"/>
                </a:lnTo>
                <a:lnTo>
                  <a:pt x="888206" y="1486154"/>
                </a:lnTo>
                <a:lnTo>
                  <a:pt x="907747" y="1515126"/>
                </a:lnTo>
                <a:lnTo>
                  <a:pt x="936741" y="1534660"/>
                </a:lnTo>
                <a:lnTo>
                  <a:pt x="972261" y="1541823"/>
                </a:lnTo>
                <a:lnTo>
                  <a:pt x="972261" y="1542536"/>
                </a:lnTo>
                <a:lnTo>
                  <a:pt x="1007781" y="1535382"/>
                </a:lnTo>
                <a:lnTo>
                  <a:pt x="1036775" y="1515864"/>
                </a:lnTo>
                <a:lnTo>
                  <a:pt x="1056316" y="1486895"/>
                </a:lnTo>
                <a:lnTo>
                  <a:pt x="1063480" y="1451391"/>
                </a:lnTo>
                <a:lnTo>
                  <a:pt x="1063479" y="602246"/>
                </a:lnTo>
                <a:lnTo>
                  <a:pt x="1056303" y="566764"/>
                </a:lnTo>
                <a:lnTo>
                  <a:pt x="1036743" y="537772"/>
                </a:lnTo>
                <a:lnTo>
                  <a:pt x="1007740" y="518216"/>
                </a:lnTo>
                <a:lnTo>
                  <a:pt x="972261" y="511043"/>
                </a:lnTo>
                <a:close/>
              </a:path>
              <a:path w="1546860" h="1543050">
                <a:moveTo>
                  <a:pt x="678589" y="611983"/>
                </a:moveTo>
                <a:lnTo>
                  <a:pt x="643110" y="619146"/>
                </a:lnTo>
                <a:lnTo>
                  <a:pt x="614108" y="638680"/>
                </a:lnTo>
                <a:lnTo>
                  <a:pt x="594547" y="667650"/>
                </a:lnTo>
                <a:lnTo>
                  <a:pt x="587371" y="703122"/>
                </a:lnTo>
                <a:lnTo>
                  <a:pt x="587371" y="1349622"/>
                </a:lnTo>
                <a:lnTo>
                  <a:pt x="594535" y="1385098"/>
                </a:lnTo>
                <a:lnTo>
                  <a:pt x="614076" y="1414070"/>
                </a:lnTo>
                <a:lnTo>
                  <a:pt x="643069" y="1433604"/>
                </a:lnTo>
                <a:lnTo>
                  <a:pt x="678564" y="1440762"/>
                </a:lnTo>
                <a:lnTo>
                  <a:pt x="677976" y="1440762"/>
                </a:lnTo>
                <a:lnTo>
                  <a:pt x="713516" y="1433604"/>
                </a:lnTo>
                <a:lnTo>
                  <a:pt x="713932" y="1433604"/>
                </a:lnTo>
                <a:lnTo>
                  <a:pt x="742948" y="1414070"/>
                </a:lnTo>
                <a:lnTo>
                  <a:pt x="767425" y="1361300"/>
                </a:lnTo>
                <a:lnTo>
                  <a:pt x="769808" y="703122"/>
                </a:lnTo>
                <a:lnTo>
                  <a:pt x="762626" y="667650"/>
                </a:lnTo>
                <a:lnTo>
                  <a:pt x="743055" y="638680"/>
                </a:lnTo>
                <a:lnTo>
                  <a:pt x="714055" y="619146"/>
                </a:lnTo>
                <a:lnTo>
                  <a:pt x="678589" y="611983"/>
                </a:lnTo>
                <a:close/>
              </a:path>
              <a:path w="1546860" h="1543050">
                <a:moveTo>
                  <a:pt x="1154762" y="1247724"/>
                </a:moveTo>
                <a:lnTo>
                  <a:pt x="1154762" y="1321249"/>
                </a:lnTo>
                <a:lnTo>
                  <a:pt x="1427676" y="1403065"/>
                </a:lnTo>
                <a:lnTo>
                  <a:pt x="1460360" y="1408052"/>
                </a:lnTo>
                <a:lnTo>
                  <a:pt x="1492625" y="1403065"/>
                </a:lnTo>
                <a:lnTo>
                  <a:pt x="1519733" y="1386623"/>
                </a:lnTo>
                <a:lnTo>
                  <a:pt x="1538586" y="1361301"/>
                </a:lnTo>
                <a:lnTo>
                  <a:pt x="1544573" y="1337378"/>
                </a:lnTo>
                <a:lnTo>
                  <a:pt x="1456822" y="1337378"/>
                </a:lnTo>
                <a:lnTo>
                  <a:pt x="1452592" y="1336694"/>
                </a:lnTo>
                <a:lnTo>
                  <a:pt x="1448595" y="1335370"/>
                </a:lnTo>
                <a:lnTo>
                  <a:pt x="1154762" y="1247724"/>
                </a:lnTo>
                <a:close/>
              </a:path>
              <a:path w="1546860" h="1543050">
                <a:moveTo>
                  <a:pt x="384918" y="708745"/>
                </a:moveTo>
                <a:lnTo>
                  <a:pt x="349367" y="715909"/>
                </a:lnTo>
                <a:lnTo>
                  <a:pt x="320366" y="735447"/>
                </a:lnTo>
                <a:lnTo>
                  <a:pt x="300837" y="764426"/>
                </a:lnTo>
                <a:lnTo>
                  <a:pt x="293680" y="799916"/>
                </a:lnTo>
                <a:lnTo>
                  <a:pt x="293680" y="1253360"/>
                </a:lnTo>
                <a:lnTo>
                  <a:pt x="320418" y="1317832"/>
                </a:lnTo>
                <a:lnTo>
                  <a:pt x="384918" y="1344506"/>
                </a:lnTo>
                <a:lnTo>
                  <a:pt x="420289" y="1337378"/>
                </a:lnTo>
                <a:lnTo>
                  <a:pt x="421399" y="1336693"/>
                </a:lnTo>
                <a:lnTo>
                  <a:pt x="449439" y="1317832"/>
                </a:lnTo>
                <a:lnTo>
                  <a:pt x="469018" y="1288863"/>
                </a:lnTo>
                <a:lnTo>
                  <a:pt x="476201" y="1253360"/>
                </a:lnTo>
                <a:lnTo>
                  <a:pt x="476201" y="799916"/>
                </a:lnTo>
                <a:lnTo>
                  <a:pt x="469027" y="764426"/>
                </a:lnTo>
                <a:lnTo>
                  <a:pt x="449464" y="735447"/>
                </a:lnTo>
                <a:lnTo>
                  <a:pt x="420448" y="715909"/>
                </a:lnTo>
                <a:lnTo>
                  <a:pt x="384918" y="708745"/>
                </a:lnTo>
                <a:close/>
              </a:path>
              <a:path w="1546860" h="1543050">
                <a:moveTo>
                  <a:pt x="396105" y="70325"/>
                </a:moveTo>
                <a:lnTo>
                  <a:pt x="146464" y="70324"/>
                </a:lnTo>
                <a:lnTo>
                  <a:pt x="150670" y="70999"/>
                </a:lnTo>
                <a:lnTo>
                  <a:pt x="154702" y="72285"/>
                </a:lnTo>
                <a:lnTo>
                  <a:pt x="1428385" y="452940"/>
                </a:lnTo>
                <a:lnTo>
                  <a:pt x="1462878" y="476709"/>
                </a:lnTo>
                <a:lnTo>
                  <a:pt x="1476605" y="1337378"/>
                </a:lnTo>
                <a:lnTo>
                  <a:pt x="1544573" y="1337378"/>
                </a:lnTo>
                <a:lnTo>
                  <a:pt x="1546518" y="1329604"/>
                </a:lnTo>
                <a:lnTo>
                  <a:pt x="1546582" y="508215"/>
                </a:lnTo>
                <a:lnTo>
                  <a:pt x="1538943" y="468946"/>
                </a:lnTo>
                <a:lnTo>
                  <a:pt x="1517980" y="432795"/>
                </a:lnTo>
                <a:lnTo>
                  <a:pt x="1486628" y="403447"/>
                </a:lnTo>
                <a:lnTo>
                  <a:pt x="1448063" y="384704"/>
                </a:lnTo>
                <a:lnTo>
                  <a:pt x="396105" y="70325"/>
                </a:lnTo>
                <a:close/>
              </a:path>
              <a:path w="1546860" h="1543050">
                <a:moveTo>
                  <a:pt x="91223" y="807018"/>
                </a:moveTo>
                <a:lnTo>
                  <a:pt x="55284" y="814277"/>
                </a:lnTo>
                <a:lnTo>
                  <a:pt x="55613" y="814277"/>
                </a:lnTo>
                <a:lnTo>
                  <a:pt x="26680" y="833824"/>
                </a:lnTo>
                <a:lnTo>
                  <a:pt x="7168" y="862753"/>
                </a:lnTo>
                <a:lnTo>
                  <a:pt x="0" y="898157"/>
                </a:lnTo>
                <a:lnTo>
                  <a:pt x="13" y="1154959"/>
                </a:lnTo>
                <a:lnTo>
                  <a:pt x="7215" y="1190431"/>
                </a:lnTo>
                <a:lnTo>
                  <a:pt x="26823" y="1219403"/>
                </a:lnTo>
                <a:lnTo>
                  <a:pt x="55821" y="1238939"/>
                </a:lnTo>
                <a:lnTo>
                  <a:pt x="56044" y="1238939"/>
                </a:lnTo>
                <a:lnTo>
                  <a:pt x="91529" y="1246101"/>
                </a:lnTo>
                <a:lnTo>
                  <a:pt x="91236" y="1246101"/>
                </a:lnTo>
                <a:lnTo>
                  <a:pt x="126730" y="1238939"/>
                </a:lnTo>
                <a:lnTo>
                  <a:pt x="155749" y="1219403"/>
                </a:lnTo>
                <a:lnTo>
                  <a:pt x="175327" y="1190431"/>
                </a:lnTo>
                <a:lnTo>
                  <a:pt x="182510" y="1154959"/>
                </a:lnTo>
                <a:lnTo>
                  <a:pt x="182509" y="898157"/>
                </a:lnTo>
                <a:lnTo>
                  <a:pt x="175288" y="862753"/>
                </a:lnTo>
                <a:lnTo>
                  <a:pt x="155724" y="833824"/>
                </a:lnTo>
                <a:lnTo>
                  <a:pt x="126731" y="814277"/>
                </a:lnTo>
                <a:lnTo>
                  <a:pt x="91223" y="807018"/>
                </a:lnTo>
                <a:close/>
              </a:path>
              <a:path w="1546860" h="1543050">
                <a:moveTo>
                  <a:pt x="129961" y="0"/>
                </a:moveTo>
                <a:lnTo>
                  <a:pt x="92018" y="14202"/>
                </a:lnTo>
                <a:lnTo>
                  <a:pt x="65795" y="43379"/>
                </a:lnTo>
                <a:lnTo>
                  <a:pt x="56006" y="84079"/>
                </a:lnTo>
                <a:lnTo>
                  <a:pt x="56006" y="719382"/>
                </a:lnTo>
                <a:lnTo>
                  <a:pt x="64753" y="717859"/>
                </a:lnTo>
                <a:lnTo>
                  <a:pt x="73560" y="716763"/>
                </a:lnTo>
                <a:lnTo>
                  <a:pt x="82410" y="716102"/>
                </a:lnTo>
                <a:lnTo>
                  <a:pt x="90103" y="715909"/>
                </a:lnTo>
                <a:lnTo>
                  <a:pt x="126634" y="715909"/>
                </a:lnTo>
                <a:lnTo>
                  <a:pt x="126634" y="70324"/>
                </a:lnTo>
                <a:lnTo>
                  <a:pt x="396105" y="70325"/>
                </a:lnTo>
                <a:lnTo>
                  <a:pt x="174909" y="4220"/>
                </a:lnTo>
                <a:lnTo>
                  <a:pt x="129961" y="0"/>
                </a:lnTo>
                <a:close/>
              </a:path>
              <a:path w="1546860" h="1543050">
                <a:moveTo>
                  <a:pt x="126634" y="715909"/>
                </a:moveTo>
                <a:lnTo>
                  <a:pt x="92475" y="715909"/>
                </a:lnTo>
                <a:lnTo>
                  <a:pt x="100181" y="716102"/>
                </a:lnTo>
                <a:lnTo>
                  <a:pt x="109047" y="716763"/>
                </a:lnTo>
                <a:lnTo>
                  <a:pt x="117870" y="717859"/>
                </a:lnTo>
                <a:lnTo>
                  <a:pt x="126634" y="719382"/>
                </a:lnTo>
                <a:lnTo>
                  <a:pt x="126634" y="715909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502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Introduction</a:t>
            </a: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1041500" y="642358"/>
            <a:ext cx="1546860" cy="1543050"/>
          </a:xfrm>
          <a:custGeom>
            <a:avLst/>
            <a:gdLst/>
            <a:ahLst/>
            <a:cxnLst/>
            <a:rect l="l" t="t" r="r" b="b"/>
            <a:pathLst>
              <a:path w="1546860" h="1543050">
                <a:moveTo>
                  <a:pt x="972261" y="511043"/>
                </a:moveTo>
                <a:lnTo>
                  <a:pt x="936795" y="518216"/>
                </a:lnTo>
                <a:lnTo>
                  <a:pt x="907796" y="537772"/>
                </a:lnTo>
                <a:lnTo>
                  <a:pt x="888224" y="566764"/>
                </a:lnTo>
                <a:lnTo>
                  <a:pt x="881043" y="602246"/>
                </a:lnTo>
                <a:lnTo>
                  <a:pt x="881043" y="1450678"/>
                </a:lnTo>
                <a:lnTo>
                  <a:pt x="888206" y="1486154"/>
                </a:lnTo>
                <a:lnTo>
                  <a:pt x="907747" y="1515126"/>
                </a:lnTo>
                <a:lnTo>
                  <a:pt x="936741" y="1534660"/>
                </a:lnTo>
                <a:lnTo>
                  <a:pt x="972261" y="1541823"/>
                </a:lnTo>
                <a:lnTo>
                  <a:pt x="972261" y="1542536"/>
                </a:lnTo>
                <a:lnTo>
                  <a:pt x="1007781" y="1535382"/>
                </a:lnTo>
                <a:lnTo>
                  <a:pt x="1036775" y="1515864"/>
                </a:lnTo>
                <a:lnTo>
                  <a:pt x="1056316" y="1486895"/>
                </a:lnTo>
                <a:lnTo>
                  <a:pt x="1063480" y="1451391"/>
                </a:lnTo>
                <a:lnTo>
                  <a:pt x="1063479" y="602246"/>
                </a:lnTo>
                <a:lnTo>
                  <a:pt x="1056303" y="566764"/>
                </a:lnTo>
                <a:lnTo>
                  <a:pt x="1036743" y="537772"/>
                </a:lnTo>
                <a:lnTo>
                  <a:pt x="1007740" y="518216"/>
                </a:lnTo>
                <a:lnTo>
                  <a:pt x="972261" y="511043"/>
                </a:lnTo>
                <a:close/>
              </a:path>
              <a:path w="1546860" h="1543050">
                <a:moveTo>
                  <a:pt x="678589" y="611983"/>
                </a:moveTo>
                <a:lnTo>
                  <a:pt x="643110" y="619146"/>
                </a:lnTo>
                <a:lnTo>
                  <a:pt x="614108" y="638680"/>
                </a:lnTo>
                <a:lnTo>
                  <a:pt x="594547" y="667650"/>
                </a:lnTo>
                <a:lnTo>
                  <a:pt x="587371" y="703122"/>
                </a:lnTo>
                <a:lnTo>
                  <a:pt x="587371" y="1349622"/>
                </a:lnTo>
                <a:lnTo>
                  <a:pt x="594535" y="1385098"/>
                </a:lnTo>
                <a:lnTo>
                  <a:pt x="614076" y="1414070"/>
                </a:lnTo>
                <a:lnTo>
                  <a:pt x="643069" y="1433604"/>
                </a:lnTo>
                <a:lnTo>
                  <a:pt x="678564" y="1440762"/>
                </a:lnTo>
                <a:lnTo>
                  <a:pt x="677976" y="1440762"/>
                </a:lnTo>
                <a:lnTo>
                  <a:pt x="713516" y="1433604"/>
                </a:lnTo>
                <a:lnTo>
                  <a:pt x="713932" y="1433604"/>
                </a:lnTo>
                <a:lnTo>
                  <a:pt x="742948" y="1414070"/>
                </a:lnTo>
                <a:lnTo>
                  <a:pt x="767425" y="1361300"/>
                </a:lnTo>
                <a:lnTo>
                  <a:pt x="769808" y="703122"/>
                </a:lnTo>
                <a:lnTo>
                  <a:pt x="762626" y="667650"/>
                </a:lnTo>
                <a:lnTo>
                  <a:pt x="743055" y="638680"/>
                </a:lnTo>
                <a:lnTo>
                  <a:pt x="714055" y="619146"/>
                </a:lnTo>
                <a:lnTo>
                  <a:pt x="678589" y="611983"/>
                </a:lnTo>
                <a:close/>
              </a:path>
              <a:path w="1546860" h="1543050">
                <a:moveTo>
                  <a:pt x="1154762" y="1247724"/>
                </a:moveTo>
                <a:lnTo>
                  <a:pt x="1154762" y="1321249"/>
                </a:lnTo>
                <a:lnTo>
                  <a:pt x="1427676" y="1403065"/>
                </a:lnTo>
                <a:lnTo>
                  <a:pt x="1460360" y="1408052"/>
                </a:lnTo>
                <a:lnTo>
                  <a:pt x="1492625" y="1403065"/>
                </a:lnTo>
                <a:lnTo>
                  <a:pt x="1519733" y="1386623"/>
                </a:lnTo>
                <a:lnTo>
                  <a:pt x="1538586" y="1361301"/>
                </a:lnTo>
                <a:lnTo>
                  <a:pt x="1544573" y="1337378"/>
                </a:lnTo>
                <a:lnTo>
                  <a:pt x="1456822" y="1337378"/>
                </a:lnTo>
                <a:lnTo>
                  <a:pt x="1452592" y="1336694"/>
                </a:lnTo>
                <a:lnTo>
                  <a:pt x="1448595" y="1335370"/>
                </a:lnTo>
                <a:lnTo>
                  <a:pt x="1154762" y="1247724"/>
                </a:lnTo>
                <a:close/>
              </a:path>
              <a:path w="1546860" h="1543050">
                <a:moveTo>
                  <a:pt x="384918" y="708745"/>
                </a:moveTo>
                <a:lnTo>
                  <a:pt x="349367" y="715909"/>
                </a:lnTo>
                <a:lnTo>
                  <a:pt x="320366" y="735447"/>
                </a:lnTo>
                <a:lnTo>
                  <a:pt x="300837" y="764426"/>
                </a:lnTo>
                <a:lnTo>
                  <a:pt x="293680" y="799916"/>
                </a:lnTo>
                <a:lnTo>
                  <a:pt x="293680" y="1253360"/>
                </a:lnTo>
                <a:lnTo>
                  <a:pt x="320418" y="1317832"/>
                </a:lnTo>
                <a:lnTo>
                  <a:pt x="384918" y="1344506"/>
                </a:lnTo>
                <a:lnTo>
                  <a:pt x="420289" y="1337378"/>
                </a:lnTo>
                <a:lnTo>
                  <a:pt x="421399" y="1336693"/>
                </a:lnTo>
                <a:lnTo>
                  <a:pt x="449439" y="1317832"/>
                </a:lnTo>
                <a:lnTo>
                  <a:pt x="469018" y="1288863"/>
                </a:lnTo>
                <a:lnTo>
                  <a:pt x="476201" y="1253360"/>
                </a:lnTo>
                <a:lnTo>
                  <a:pt x="476201" y="799916"/>
                </a:lnTo>
                <a:lnTo>
                  <a:pt x="469027" y="764426"/>
                </a:lnTo>
                <a:lnTo>
                  <a:pt x="449464" y="735447"/>
                </a:lnTo>
                <a:lnTo>
                  <a:pt x="420448" y="715909"/>
                </a:lnTo>
                <a:lnTo>
                  <a:pt x="384918" y="708745"/>
                </a:lnTo>
                <a:close/>
              </a:path>
              <a:path w="1546860" h="1543050">
                <a:moveTo>
                  <a:pt x="396105" y="70325"/>
                </a:moveTo>
                <a:lnTo>
                  <a:pt x="146464" y="70324"/>
                </a:lnTo>
                <a:lnTo>
                  <a:pt x="150670" y="70999"/>
                </a:lnTo>
                <a:lnTo>
                  <a:pt x="154702" y="72285"/>
                </a:lnTo>
                <a:lnTo>
                  <a:pt x="1428385" y="452940"/>
                </a:lnTo>
                <a:lnTo>
                  <a:pt x="1462878" y="476709"/>
                </a:lnTo>
                <a:lnTo>
                  <a:pt x="1476605" y="1337378"/>
                </a:lnTo>
                <a:lnTo>
                  <a:pt x="1544573" y="1337378"/>
                </a:lnTo>
                <a:lnTo>
                  <a:pt x="1546518" y="1329604"/>
                </a:lnTo>
                <a:lnTo>
                  <a:pt x="1546582" y="508215"/>
                </a:lnTo>
                <a:lnTo>
                  <a:pt x="1538943" y="468946"/>
                </a:lnTo>
                <a:lnTo>
                  <a:pt x="1517980" y="432795"/>
                </a:lnTo>
                <a:lnTo>
                  <a:pt x="1486628" y="403447"/>
                </a:lnTo>
                <a:lnTo>
                  <a:pt x="1448063" y="384704"/>
                </a:lnTo>
                <a:lnTo>
                  <a:pt x="396105" y="70325"/>
                </a:lnTo>
                <a:close/>
              </a:path>
              <a:path w="1546860" h="1543050">
                <a:moveTo>
                  <a:pt x="91223" y="807018"/>
                </a:moveTo>
                <a:lnTo>
                  <a:pt x="55284" y="814277"/>
                </a:lnTo>
                <a:lnTo>
                  <a:pt x="55613" y="814277"/>
                </a:lnTo>
                <a:lnTo>
                  <a:pt x="26680" y="833824"/>
                </a:lnTo>
                <a:lnTo>
                  <a:pt x="7168" y="862753"/>
                </a:lnTo>
                <a:lnTo>
                  <a:pt x="0" y="898157"/>
                </a:lnTo>
                <a:lnTo>
                  <a:pt x="13" y="1154959"/>
                </a:lnTo>
                <a:lnTo>
                  <a:pt x="7215" y="1190431"/>
                </a:lnTo>
                <a:lnTo>
                  <a:pt x="26823" y="1219403"/>
                </a:lnTo>
                <a:lnTo>
                  <a:pt x="55821" y="1238939"/>
                </a:lnTo>
                <a:lnTo>
                  <a:pt x="56044" y="1238939"/>
                </a:lnTo>
                <a:lnTo>
                  <a:pt x="91529" y="1246101"/>
                </a:lnTo>
                <a:lnTo>
                  <a:pt x="91236" y="1246101"/>
                </a:lnTo>
                <a:lnTo>
                  <a:pt x="126730" y="1238939"/>
                </a:lnTo>
                <a:lnTo>
                  <a:pt x="155749" y="1219403"/>
                </a:lnTo>
                <a:lnTo>
                  <a:pt x="175327" y="1190431"/>
                </a:lnTo>
                <a:lnTo>
                  <a:pt x="182510" y="1154959"/>
                </a:lnTo>
                <a:lnTo>
                  <a:pt x="182509" y="898157"/>
                </a:lnTo>
                <a:lnTo>
                  <a:pt x="175288" y="862753"/>
                </a:lnTo>
                <a:lnTo>
                  <a:pt x="155724" y="833824"/>
                </a:lnTo>
                <a:lnTo>
                  <a:pt x="126731" y="814277"/>
                </a:lnTo>
                <a:lnTo>
                  <a:pt x="91223" y="807018"/>
                </a:lnTo>
                <a:close/>
              </a:path>
              <a:path w="1546860" h="1543050">
                <a:moveTo>
                  <a:pt x="129961" y="0"/>
                </a:moveTo>
                <a:lnTo>
                  <a:pt x="92018" y="14202"/>
                </a:lnTo>
                <a:lnTo>
                  <a:pt x="65795" y="43379"/>
                </a:lnTo>
                <a:lnTo>
                  <a:pt x="56006" y="84079"/>
                </a:lnTo>
                <a:lnTo>
                  <a:pt x="56006" y="719382"/>
                </a:lnTo>
                <a:lnTo>
                  <a:pt x="64753" y="717859"/>
                </a:lnTo>
                <a:lnTo>
                  <a:pt x="73560" y="716763"/>
                </a:lnTo>
                <a:lnTo>
                  <a:pt x="82410" y="716102"/>
                </a:lnTo>
                <a:lnTo>
                  <a:pt x="90103" y="715909"/>
                </a:lnTo>
                <a:lnTo>
                  <a:pt x="126634" y="715909"/>
                </a:lnTo>
                <a:lnTo>
                  <a:pt x="126634" y="70324"/>
                </a:lnTo>
                <a:lnTo>
                  <a:pt x="396105" y="70325"/>
                </a:lnTo>
                <a:lnTo>
                  <a:pt x="174909" y="4220"/>
                </a:lnTo>
                <a:lnTo>
                  <a:pt x="129961" y="0"/>
                </a:lnTo>
                <a:close/>
              </a:path>
              <a:path w="1546860" h="1543050">
                <a:moveTo>
                  <a:pt x="126634" y="715909"/>
                </a:moveTo>
                <a:lnTo>
                  <a:pt x="92475" y="715909"/>
                </a:lnTo>
                <a:lnTo>
                  <a:pt x="100181" y="716102"/>
                </a:lnTo>
                <a:lnTo>
                  <a:pt x="109047" y="716763"/>
                </a:lnTo>
                <a:lnTo>
                  <a:pt x="117870" y="717859"/>
                </a:lnTo>
                <a:lnTo>
                  <a:pt x="126634" y="719382"/>
                </a:lnTo>
                <a:lnTo>
                  <a:pt x="126634" y="715909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B3FDC-B575-243B-9C04-FF01E8FFF4DF}"/>
              </a:ext>
            </a:extLst>
          </p:cNvPr>
          <p:cNvSpPr txBox="1"/>
          <p:nvPr/>
        </p:nvSpPr>
        <p:spPr>
          <a:xfrm>
            <a:off x="1295400" y="2651618"/>
            <a:ext cx="109728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The global movie industry generates millions of dollars in revenue every year, influenced by factors such as genre, ratings, director popularity, and audience engagement.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Understanding how movies perform over time helps businesses plan investments, marketing strategies, and content creation.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This analysis leverages IMDb and box-office data to uncover trends in movie releases, audience preferences, and revenue-driving factors.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By examining production patterns and viewer response, we can help stakeholders make smarter, data-driven decisions.</a:t>
            </a:r>
          </a:p>
          <a:p>
            <a:pPr algn="just"/>
            <a:endParaRPr lang="en-I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06D4E-7DB5-DC52-2A0F-FC4DC1445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0" y="3162300"/>
            <a:ext cx="39624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660A-5E4C-C1AC-9284-29ACA38D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926" y="558271"/>
            <a:ext cx="12096369" cy="1015663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6B22C-CF76-5526-25D7-ABE8D25D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4891"/>
            <a:ext cx="1548518" cy="154242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1A794E2-A5FB-2EE9-71FD-5F00B6028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52600" y="2319828"/>
            <a:ext cx="92964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lacks insights into how movie production and audience preferences have evolved over time.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Decision-makers need clarity on which genres, years, and directors contribute the most to revenue.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currently no structured understanding of how ratings and votes influence movie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these insights, predicting future trends or investing strategically becomes challenging.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2D474-5C22-BEF9-2F5B-67B048844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0" y="2781300"/>
            <a:ext cx="405419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1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F6B8-9E7B-13C9-D51C-C4E17A16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793279"/>
            <a:ext cx="12096369" cy="1015663"/>
          </a:xfrm>
        </p:spPr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FB7A3-55B0-ABFC-EF2B-CB7D2139F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5935" y="2476500"/>
            <a:ext cx="14390371" cy="300851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Clean and prepare the IMDb movie dataset for analysis.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Build interactive dashboards using Power BI.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Analyze trends in movie release counts, revenue, ratings, and votes.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Identify top-performing movies and genres.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highlight top-performing movies based on votes and popularity, supporting strategic business actions.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B0939-D1C0-5A75-7537-94F64C42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70" y="294892"/>
            <a:ext cx="1548518" cy="154242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B708117-3C9B-B609-6584-5FDFC48C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220" y="6096000"/>
            <a:ext cx="22479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52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1080-9B83-3083-B444-A19D5D66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780579"/>
            <a:ext cx="15773400" cy="912404"/>
          </a:xfrm>
        </p:spPr>
        <p:txBody>
          <a:bodyPr>
            <a:normAutofit/>
          </a:bodyPr>
          <a:lstStyle/>
          <a:p>
            <a:r>
              <a:rPr lang="en-IN" sz="48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r>
              <a:rPr lang="en-IN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EA42C-822B-971B-BE03-E735E10E3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171700"/>
            <a:ext cx="15773400" cy="775765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u="sng" dirty="0">
                <a:latin typeface="Arial" panose="020B0604020202020204" pitchFamily="34" charset="0"/>
                <a:cs typeface="Arial" panose="020B0604020202020204" pitchFamily="34" charset="0"/>
              </a:rPr>
              <a:t>Dataset Name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3000" b="0" dirty="0">
                <a:latin typeface="Arial" panose="020B0604020202020204" pitchFamily="34" charset="0"/>
                <a:cs typeface="Arial" panose="020B0604020202020204" pitchFamily="34" charset="0"/>
              </a:rPr>
              <a:t>IMDb-Movie-Data.csv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u="sng" dirty="0">
                <a:latin typeface="Arial" panose="020B0604020202020204" pitchFamily="34" charset="0"/>
                <a:cs typeface="Arial" panose="020B0604020202020204" pitchFamily="34" charset="0"/>
              </a:rPr>
              <a:t>Total Records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3000" b="0" dirty="0">
                <a:latin typeface="Arial" panose="020B0604020202020204" pitchFamily="34" charset="0"/>
                <a:cs typeface="Arial" panose="020B0604020202020204" pitchFamily="34" charset="0"/>
              </a:rPr>
              <a:t>1000 Movies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u="sng" dirty="0">
                <a:latin typeface="Arial" panose="020B0604020202020204" pitchFamily="34" charset="0"/>
                <a:cs typeface="Arial" panose="020B0604020202020204" pitchFamily="34" charset="0"/>
              </a:rPr>
              <a:t>Time period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3000" b="0" dirty="0">
                <a:latin typeface="Arial" panose="020B0604020202020204" pitchFamily="34" charset="0"/>
                <a:cs typeface="Arial" panose="020B0604020202020204" pitchFamily="34" charset="0"/>
              </a:rPr>
              <a:t>2006-2016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u="sng" dirty="0">
                <a:latin typeface="Arial" panose="020B0604020202020204" pitchFamily="34" charset="0"/>
                <a:cs typeface="Arial" panose="020B0604020202020204" pitchFamily="34" charset="0"/>
              </a:rPr>
              <a:t>Key Columns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Genre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Director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Actors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Runtime(Minutes)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Rating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Revenue(Millions)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0" dirty="0" err="1">
                <a:latin typeface="Arial" panose="020B0604020202020204" pitchFamily="34" charset="0"/>
                <a:cs typeface="Arial" panose="020B0604020202020204" pitchFamily="34" charset="0"/>
              </a:rPr>
              <a:t>Metascore</a:t>
            </a:r>
            <a:r>
              <a:rPr lang="en-IN" sz="27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6C663-3DB4-BCE9-1766-C21E65014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7110"/>
            <a:ext cx="1548518" cy="15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CADE-4053-A796-E445-56011210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935" y="571500"/>
            <a:ext cx="12096369" cy="1015663"/>
          </a:xfrm>
        </p:spPr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D63D9A-ABDC-8420-C942-79025F431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33600" y="1934433"/>
            <a:ext cx="1264341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columns like revenue,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metascore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director names were identified and handled using imputation or removal techniques.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checked to ensure accuracy and avoid skewed insights.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standardized (e.g., converting year, votes, revenue into numeric formats).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Genre columns were split and normalized to allow accurate aggregation and visualization.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847E2-E768-CC7B-5415-EFBC03F18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0396"/>
            <a:ext cx="1548518" cy="1542422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60F730C-C4E1-AD98-87E6-86253BBA4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7015" y="23241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29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7FBF-A8CF-F178-3928-F0F4D987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039352"/>
            <a:ext cx="12096369" cy="1015663"/>
          </a:xfrm>
        </p:spPr>
        <p:txBody>
          <a:bodyPr/>
          <a:lstStyle/>
          <a:p>
            <a:r>
              <a:rPr lang="en-US" dirty="0"/>
              <a:t>Visualizations: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9FEED-B8D6-5D19-FD12-92F1FAC39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2476500"/>
            <a:ext cx="16036925" cy="42319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How many movies were released each year?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20E70-4330-8F34-6CF8-EDAB00C0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2593"/>
            <a:ext cx="1548518" cy="1542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54C3D-5AD9-84FB-723F-A9C2183C9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940" y="3334959"/>
            <a:ext cx="7129319" cy="3433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25CD64-0BD9-BD0C-83A1-C21D29B09891}"/>
              </a:ext>
            </a:extLst>
          </p:cNvPr>
          <p:cNvSpPr txBox="1"/>
          <p:nvPr/>
        </p:nvSpPr>
        <p:spPr>
          <a:xfrm>
            <a:off x="1371600" y="6896100"/>
            <a:ext cx="1603692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Insights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Movie releases increased steadily over the years, with a major surge in 2016, making it the most productive year by a huge margin.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This indicates a consistent growth trend in film production.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72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0A99-7210-CB6B-FE79-C1DB389E3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52500"/>
            <a:ext cx="15925800" cy="930254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How has the average IMDb rating changed year over year?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sz="3200" dirty="0"/>
              <a:t>Insights: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dirty="0"/>
              <a:t>Average ratings remained fairly stable, mostly between 6.8 and 7.1, showing audience sentiment was relatively consistent.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dirty="0"/>
              <a:t>However, a slight downward trend appears after 2014, indicating more releases but slightly lower average ratings.</a:t>
            </a:r>
          </a:p>
          <a:p>
            <a:endParaRPr lang="en-US" sz="32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136EF-DE3A-45C4-1321-63889F0B4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71700"/>
            <a:ext cx="7696200" cy="33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6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1E729-479F-25F6-7B30-C30D6AA3B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19100"/>
            <a:ext cx="16036925" cy="761747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Which are the top five years with the highest number of movie releases?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Insights:</a:t>
            </a:r>
          </a:p>
          <a:p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 years 2016, 2015, 2014, 2013, and 2012 saw the highest output, with 2016 leading overwhelmingly.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This reflects a strong expansion phase in the global film industry during this period.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A5076-608D-6F11-46CF-C9CCD7176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14500"/>
            <a:ext cx="5334000" cy="41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15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B1393-917B-C388-5F82-945DE566B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7829" y="495300"/>
            <a:ext cx="16036925" cy="846385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How are movies distributed across different genres?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Insights: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Drama, Action, and Comedy dominate the industry, accounting for the largest share of productions.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 Niche genres like Western, War, and Musical are produced far less frequently, highlighting audience demand trends.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3238E-AC6D-168A-A1C9-EEDA986D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7845"/>
            <a:ext cx="6518191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26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51A0F3-EBA5-6EEC-D868-B6B0DECED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7513" y="800100"/>
            <a:ext cx="16036925" cy="677108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Which directors have generated the highest total revenue across all movies?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Insights: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Directors like J.J. Abrams, David Yates, and Christopher Nolan lead in total revenue, showing their strong box-office consistency.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0" dirty="0"/>
              <a:t>These directors handle major franchises or large-scale blockbusters that drive high commercial success.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71AFC-4786-BEB0-4E36-FD5B69D0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15" y="2099582"/>
            <a:ext cx="4636912" cy="319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4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A8148B-46EA-FD3A-114A-04F9A6B8C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7513" y="876300"/>
            <a:ext cx="16036925" cy="634789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Which movies have received the highest number of votes?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Insights: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Movies such as The Dark Knight, Inception, and The Dark Knight Rises received the most audience engagement through votes.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 This indicates exceptional popularity, cultural impact, and long-term audience interest.</a:t>
            </a: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A71A1-DE9F-A4C5-79F0-6067DE024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90700"/>
            <a:ext cx="771769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3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E840D1-46DF-980A-8CA7-FF9BA755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829" y="419100"/>
            <a:ext cx="12096369" cy="1015663"/>
          </a:xfrm>
        </p:spPr>
        <p:txBody>
          <a:bodyPr/>
          <a:lstStyle/>
          <a:p>
            <a:r>
              <a:rPr lang="en-US" dirty="0"/>
              <a:t>Dashboard Overview: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B65F3E-0D3C-3DD9-7BC3-BB6ACD134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7829" y="1786824"/>
            <a:ext cx="16036925" cy="777627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83B6A-5933-CE13-9933-345D1CBDD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272" y="1786825"/>
            <a:ext cx="7722921" cy="38077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E3E1CC-E4B9-8DBC-4387-E6A92A7A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294" y="1786823"/>
            <a:ext cx="7932458" cy="36884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319EF2-012A-8ADB-DD26-66ADA5F08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8" y="5602487"/>
            <a:ext cx="7695708" cy="3995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36D984-D1D3-CC82-9674-943002D002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7079" y="5475288"/>
            <a:ext cx="7932459" cy="409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8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3165-21CE-ACA1-99F9-094DFEFE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23900"/>
            <a:ext cx="12096369" cy="1015663"/>
          </a:xfrm>
        </p:spPr>
        <p:txBody>
          <a:bodyPr/>
          <a:lstStyle/>
          <a:p>
            <a:r>
              <a:rPr lang="en-US" dirty="0"/>
              <a:t>Conclusion: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6D233B-E8BB-F930-5A1D-021A676FE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2014838"/>
            <a:ext cx="1553337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Movie production has fluctuated over the years, but specific years stand out as major release peaks, reflecting industry growth cycles.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IMDb ratings show a shifting trend, indicating changes in storytelling quality and audience expectations.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Certain genres consistently dominate production and engagement, offering clear direction for future investments.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b="0" dirty="0"/>
              <a:t>  Overall, the analysis provides a structured foundation for making informed business decisions in the movie industry.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969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24350" y="0"/>
            <a:ext cx="13525500" cy="10096500"/>
            <a:chOff x="4324350" y="0"/>
            <a:chExt cx="13525500" cy="10096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49300" y="9429743"/>
              <a:ext cx="4400550" cy="6667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4350" y="0"/>
              <a:ext cx="9639300" cy="978217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373370" y="2687827"/>
            <a:ext cx="7548245" cy="63106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" algn="ctr">
              <a:lnSpc>
                <a:spcPts val="16780"/>
              </a:lnSpc>
              <a:spcBef>
                <a:spcPts val="110"/>
              </a:spcBef>
            </a:pPr>
            <a:r>
              <a:rPr sz="14700" spc="-844" dirty="0">
                <a:solidFill>
                  <a:srgbClr val="FFBC58"/>
                </a:solidFill>
                <a:latin typeface="Arial Black"/>
                <a:cs typeface="Arial Black"/>
              </a:rPr>
              <a:t>ANY</a:t>
            </a:r>
            <a:endParaRPr sz="14700" dirty="0">
              <a:latin typeface="Arial Black"/>
              <a:cs typeface="Arial Black"/>
            </a:endParaRPr>
          </a:p>
          <a:p>
            <a:pPr algn="ctr">
              <a:lnSpc>
                <a:spcPts val="15915"/>
              </a:lnSpc>
            </a:pPr>
            <a:r>
              <a:rPr sz="14700" spc="-490" dirty="0">
                <a:solidFill>
                  <a:srgbClr val="FFBC58"/>
                </a:solidFill>
                <a:latin typeface="Arial Black"/>
                <a:cs typeface="Arial Black"/>
              </a:rPr>
              <a:t>Queries</a:t>
            </a:r>
            <a:endParaRPr sz="14700" dirty="0">
              <a:latin typeface="Arial Black"/>
              <a:cs typeface="Arial Black"/>
            </a:endParaRPr>
          </a:p>
          <a:p>
            <a:pPr marL="2540" algn="ctr">
              <a:lnSpc>
                <a:spcPts val="16780"/>
              </a:lnSpc>
            </a:pPr>
            <a:r>
              <a:rPr sz="14700" spc="-1130" dirty="0">
                <a:solidFill>
                  <a:srgbClr val="FFBC58"/>
                </a:solidFill>
                <a:latin typeface="Arial Black"/>
                <a:cs typeface="Arial Black"/>
              </a:rPr>
              <a:t>?</a:t>
            </a:r>
            <a:endParaRPr sz="147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6450" y="2771775"/>
            <a:ext cx="6705600" cy="42576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6529" y="4476115"/>
            <a:ext cx="3528060" cy="2042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65"/>
              </a:spcBef>
            </a:pPr>
            <a:r>
              <a:rPr b="0" spc="495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b="0" spc="645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726</Words>
  <Application>Microsoft Office PowerPoint</Application>
  <PresentationFormat>Custom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Arial MT</vt:lpstr>
      <vt:lpstr>Calibri</vt:lpstr>
      <vt:lpstr>Palatino Linotype</vt:lpstr>
      <vt:lpstr>Tahoma</vt:lpstr>
      <vt:lpstr>Times New Roman</vt:lpstr>
      <vt:lpstr>Wingdings</vt:lpstr>
      <vt:lpstr>Office Theme</vt:lpstr>
      <vt:lpstr>  Movie Sales Analysis Power BI</vt:lpstr>
      <vt:lpstr>Agenda</vt:lpstr>
      <vt:lpstr>Introduction</vt:lpstr>
      <vt:lpstr>Problem Statement</vt:lpstr>
      <vt:lpstr>Objective</vt:lpstr>
      <vt:lpstr>Dataset Description:</vt:lpstr>
      <vt:lpstr>Data Cleaning</vt:lpstr>
      <vt:lpstr>Visualizations: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Overview:</vt:lpstr>
      <vt:lpstr>Conclusion: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Data Analysis Power BI</dc:title>
  <dc:creator>SRL</dc:creator>
  <cp:lastModifiedBy>gilakathula.rakesh@gmail.com</cp:lastModifiedBy>
  <cp:revision>6</cp:revision>
  <dcterms:created xsi:type="dcterms:W3CDTF">2025-11-15T02:41:08Z</dcterms:created>
  <dcterms:modified xsi:type="dcterms:W3CDTF">2025-11-15T09:37:28Z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LastSaved">
    <vt:filetime>2025-11-15T00:00:00Z</vt:filetime>
  </property>
</Properties>
</file>